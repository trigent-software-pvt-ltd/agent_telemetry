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Lf5kjG4x3QdFISjx86OiZWy3C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AC0870-6523-47C0-A671-ABA935B92932}">
  <a:tblStyle styleId="{23AC0870-6523-47C0-A671-ABA935B929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6400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FuzeBox AEOS™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Proprietary Frameworks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3200400" y="292608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CAITO</a:t>
            </a:r>
            <a:r>
              <a:rPr b="0" i="0" lang="en-US" sz="18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GSTI</a:t>
            </a:r>
            <a:r>
              <a:rPr b="0" i="0" lang="en-US" sz="18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Confidential — FuzeBox.AI, Inc.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The CAITO Framework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AI Transformation Methodology — Five Pillars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1280160"/>
            <a:ext cx="1572768" cy="32918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1280160"/>
            <a:ext cx="157276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65760" y="1417320"/>
            <a:ext cx="1572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457200" y="2560320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Culture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2926080"/>
            <a:ext cx="13898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Organizational readiness,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leadership commitment,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change capacity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084832" y="1280160"/>
            <a:ext cx="1572768" cy="32918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084832" y="1280160"/>
            <a:ext cx="157276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084832" y="1417320"/>
            <a:ext cx="1572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2616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2176272" y="2560320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176272" y="2926080"/>
            <a:ext cx="13898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AEOS 12-layer infrastructure,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cloud maturity, security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posture, data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803904" y="1280160"/>
            <a:ext cx="1572768" cy="32918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803904" y="1280160"/>
            <a:ext cx="157276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803904" y="1417320"/>
            <a:ext cx="1572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1688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3895344" y="2560320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895344" y="2926080"/>
            <a:ext cx="13898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System connectivity,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MCP connectors,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availability, data quality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522976" y="1280160"/>
            <a:ext cx="1572768" cy="32918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522976" y="1280160"/>
            <a:ext cx="157276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522976" y="1417320"/>
            <a:ext cx="1572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0760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5614416" y="2560320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Talent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614416" y="2926080"/>
            <a:ext cx="13898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Workforce skill distribution,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AI literacy,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velocity, </a:t>
            </a:r>
            <a:r>
              <a:rPr lang="en-US" sz="1000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Agent Performance</a:t>
            </a: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 planning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242048" y="1280160"/>
            <a:ext cx="1572768" cy="32918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242048" y="1280160"/>
            <a:ext cx="157276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7242048" y="1417320"/>
            <a:ext cx="15727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9832" y="2011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7333488" y="2560320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333488" y="2926080"/>
            <a:ext cx="138988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Measurable KPIs, </a:t>
            </a:r>
            <a:r>
              <a:rPr lang="en-US" sz="1000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AI-ROI</a:t>
            </a: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r>
              <a:rPr lang="en-US" sz="1000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 ROI,</a:t>
            </a: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 tracking, business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impact quantification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“Own the Orchestration. Rent the Commodities.”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CAITO — What Each Pillar Measures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" name="Google Shape;69;p3"/>
          <p:cNvGraphicFramePr/>
          <p:nvPr/>
        </p:nvGraphicFramePr>
        <p:xfrm>
          <a:off x="457200" y="96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{23AC0870-6523-47C0-A671-ABA935B92932}</a:tableStyleId>
              </a:tblPr>
              <a:tblGrid>
                <a:gridCol w="1371600"/>
                <a:gridCol w="2560325"/>
                <a:gridCol w="2286000"/>
                <a:gridCol w="20116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Pillar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Sub-Dimensions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Assessment Method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Output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 — Culture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Leadership commitment, change history, innovation culture, risk tolerance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Stakeholder interviews, organizational behavior analysis, readiness survey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Culture Readiness Score (0–100)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— Architecture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maturity, API availability, data infrastructure, security posture, AEOS zone readiness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Automated infra scanning, config analysis, AEOS layer gap assessment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 Maturity Score (0–100)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 — Integration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connectivity, data quality, workflow automation maturity, MCP connector readiness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lineage mapping, API audit, MCP protocol compatibility check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Integration Readiness Score (0–100)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 — Talent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skill distribution, learning velocity, AI literacy, 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performance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baseline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Skills graph analysis, rPotential labor graph, competency mapping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Talent Readiness Score (0–100)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 — Outcomes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 definition, 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ROI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targets, 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</a:t>
                      </a: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baseline, Coordination Tax quantification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measurement, UoP modeling, financial impact analysis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Transformation ROI Model + </a:t>
                      </a:r>
                      <a:r>
                        <a:rPr b="1" lang="en-US" sz="1000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AI-ROI </a:t>
                      </a: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CAITO Score = wᴄ × Culture + wᴀ × Architecture + wᴵ × Integration + wᴛ × Talent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Weights are dynamically adjusted based on transformation objectives. Outcomes pillar validates all four.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74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1097280" y="2743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GSTI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097280" y="731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Generative System Trust Index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162D5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GSTI = wᴄ × Culture + wᴀ × Architecture + wᴵ × Integration + wᴛ × Talent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65760" y="2194560"/>
            <a:ext cx="1965960" cy="2560320"/>
          </a:xfrm>
          <a:prstGeom prst="rect">
            <a:avLst/>
          </a:prstGeom>
          <a:solidFill>
            <a:srgbClr val="162D50"/>
          </a:solidFill>
          <a:ln cap="flat" cmpd="sng" w="9525">
            <a:solidFill>
              <a:srgbClr val="2A4A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" y="2331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457200" y="28346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Culture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02920" y="320040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Leadership commitment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Change capacity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Innovation culture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Risk tolerance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514600" y="2194560"/>
            <a:ext cx="1965960" cy="2560320"/>
          </a:xfrm>
          <a:prstGeom prst="rect">
            <a:avLst/>
          </a:prstGeom>
          <a:solidFill>
            <a:srgbClr val="162D50"/>
          </a:solidFill>
          <a:ln cap="flat" cmpd="sng" w="9525">
            <a:solidFill>
              <a:srgbClr val="2A4A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4408" y="2331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2606040" y="28346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651760" y="320040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Cloud maturity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API availability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Data infrastructure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Security posture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663440" y="2194560"/>
            <a:ext cx="1965960" cy="2560320"/>
          </a:xfrm>
          <a:prstGeom prst="rect">
            <a:avLst/>
          </a:prstGeom>
          <a:solidFill>
            <a:srgbClr val="162D50"/>
          </a:solidFill>
          <a:ln cap="flat" cmpd="sng" w="9525">
            <a:solidFill>
              <a:srgbClr val="2A4A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48" y="2331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4754880" y="28346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800600" y="320040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System connectivity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Data quality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Workflow automation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MCP readiness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812280" y="2194560"/>
            <a:ext cx="1965960" cy="2560320"/>
          </a:xfrm>
          <a:prstGeom prst="rect">
            <a:avLst/>
          </a:prstGeom>
          <a:solidFill>
            <a:srgbClr val="162D50"/>
          </a:solidFill>
          <a:ln cap="flat" cmpd="sng" w="9525">
            <a:solidFill>
              <a:srgbClr val="2A4A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62088" y="2331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6903720" y="283464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949440" y="3200400"/>
            <a:ext cx="1691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Skill distribution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Learning velocity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AI literacy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Adaptability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Weights adjust dynamically: agent deployment → heavier Architecture/Integration; workforce augmentation → heavier Culture/Talent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GSTI — Task-Level Agent Scoring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How individual agents are scored for trust and autonomy progression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" name="Google Shape;108;p5"/>
          <p:cNvGraphicFramePr/>
          <p:nvPr/>
        </p:nvGraphicFramePr>
        <p:xfrm>
          <a:off x="45720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{23AC0870-6523-47C0-A671-ABA935B92932}</a:tableStyleId>
              </a:tblPr>
              <a:tblGrid>
                <a:gridCol w="1463050"/>
                <a:gridCol w="2743200"/>
                <a:gridCol w="1828800"/>
                <a:gridCol w="21945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Measures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Scoring Range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Source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Quality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 and completeness of agent output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 – 1.0 (40% weight)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L12 telemetry + human review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Confidence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certain was the agent in its output?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 – 1.0 (30% weight)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confidence scoring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Response speed. 1.0 if ≤2s, degrades to 0.0 at 10s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 – 1.0 (15% weight)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AEOS boundary-layer timing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Efficiency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per execution. 1.0 if ≤$0.05, degrades at $0.55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 – 1.0 (15% weight)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 cost + tool call cost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5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Agent Score = Quality(0.40) + Confidence(0.30) + Latency(0.15) + Cost(0.15) − Threshold Penalties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200" y="4389120"/>
            <a:ext cx="25603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57200" y="43891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≥ 0.55  →  Execute / CONTACT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291840" y="4389120"/>
            <a:ext cx="25603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291840" y="43891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0.40–0.55  →  Manual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6126480" y="4389120"/>
            <a:ext cx="25603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6126480" y="43891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0.40  →  Suppress + DODAG 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74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1097280" y="300820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utomation ROI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97280" y="7315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Automation Opportunity Profile — The Three-Layer Score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65760" y="1325880"/>
            <a:ext cx="2697480" cy="2926080"/>
          </a:xfrm>
          <a:prstGeom prst="rect">
            <a:avLst/>
          </a:prstGeom>
          <a:solidFill>
            <a:srgbClr val="162D50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371600" y="150876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1371600" y="1508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02920" y="22402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Score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02920" y="256032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30% of AOP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2880360"/>
            <a:ext cx="2331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Per-agent execution quality.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Accuracy (40%) + Confidence (30%)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+ Latency (15%) + Cost (15%)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− Threshold penalties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246120" y="1325880"/>
            <a:ext cx="2697480" cy="2926080"/>
          </a:xfrm>
          <a:prstGeom prst="rect">
            <a:avLst/>
          </a:prstGeom>
          <a:solidFill>
            <a:srgbClr val="162D50"/>
          </a:solidFill>
          <a:ln cap="flat" cmpd="sng" w="1905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251960" y="1508760"/>
            <a:ext cx="640080" cy="6400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251960" y="1508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383280" y="22402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 Score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383280" y="2560320"/>
            <a:ext cx="242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30% of </a:t>
            </a:r>
            <a:r>
              <a:rPr lang="en-US" sz="11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Agent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429000" y="2880360"/>
            <a:ext cx="2331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Per-workflow process performance.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Completion (40%) + Speed (30%)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+ Escalation (15%) + Intervention (10%)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+ Stability (5%)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126480" y="1325880"/>
            <a:ext cx="2697480" cy="2926080"/>
          </a:xfrm>
          <a:prstGeom prst="rect">
            <a:avLst/>
          </a:prstGeom>
          <a:solidFill>
            <a:srgbClr val="162D50"/>
          </a:solidFill>
          <a:ln cap="flat" cmpd="sng" w="1905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132320" y="150876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7132320" y="1508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263640" y="22402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 Score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263640" y="256032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40% of </a:t>
            </a:r>
            <a:r>
              <a:rPr lang="en-US" sz="1100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Agent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309360" y="2880360"/>
            <a:ext cx="2331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Per-outcome business value.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Time Saved (30%) + Quality (20%)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4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0B4CC"/>
                </a:solidFill>
                <a:latin typeface="Calibri"/>
                <a:ea typeface="Calibri"/>
                <a:cs typeface="Calibri"/>
                <a:sym typeface="Calibri"/>
              </a:rPr>
              <a:t>+ Revenue (30%) + Cost Savings (20%)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162D50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-US" sz="15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gent ROI</a:t>
            </a:r>
            <a:r>
              <a:rPr b="1" i="0" lang="en-US" sz="15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= (Agent Score avg × 0.30) + (Workflow Score × 0.30) + (Outcome Score × 0.40)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r>
              <a:rPr b="1" lang="en-US" sz="2600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gent ROI</a:t>
            </a:r>
            <a:r>
              <a:rPr b="1" i="0" lang="en-US" sz="26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 — Layer-by-Layer Calculations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65760" y="822960"/>
            <a:ext cx="4023360" cy="21031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365760" y="822960"/>
            <a:ext cx="4023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Layer 1 — Agent Score (per agent)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40080" y="1325880"/>
            <a:ext cx="3474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× 0.40</a:t>
            </a:r>
            <a:b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Confidence</a:t>
            </a: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× 0.30</a:t>
            </a:r>
            <a:b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Latency (norm)</a:t>
            </a: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× 0.15</a:t>
            </a:r>
            <a:b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Cost Efficiency (norm)</a:t>
            </a: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× 0.15</a:t>
            </a:r>
            <a:b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− Threshold penalties (−0.1 per fail)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754880" y="822960"/>
            <a:ext cx="4023360" cy="21031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754880" y="822960"/>
            <a:ext cx="40233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937760" y="914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Layer 2 — Workflow Score (per workflow)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937760" y="132588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Completion</a:t>
            </a:r>
            <a:r>
              <a:rPr b="0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 × 0.40  (1.0/0.5/0.0)</a:t>
            </a:r>
            <a:b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Speed (norm)</a:t>
            </a:r>
            <a:r>
              <a:rPr b="0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 × 0.30  (vs 120s target)</a:t>
            </a:r>
            <a:b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Escalation</a:t>
            </a:r>
            <a:r>
              <a:rPr b="0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 × 0.15  (1.0 if none)</a:t>
            </a:r>
            <a:b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Human Intervention</a:t>
            </a:r>
            <a:r>
              <a:rPr b="0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 × 0.10  (1.0 if none)</a:t>
            </a:r>
            <a:b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Stability</a:t>
            </a:r>
            <a:r>
              <a:rPr b="0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 × 0.05  (1.0 − 0.25/re-run)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65760" y="3108960"/>
            <a:ext cx="8412480" cy="10058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65760" y="3108960"/>
            <a:ext cx="841248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48640" y="32004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Layer 3 — Outcome Score (per business outcome)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40080" y="3566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Time Saved (min/60)</a:t>
            </a:r>
            <a:r>
              <a:rPr b="0" i="0" lang="en-US" sz="1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 × 0.30    </a:t>
            </a: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Quality Improvement</a:t>
            </a:r>
            <a:r>
              <a:rPr b="0" i="0" lang="en-US" sz="1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 × 0.20    </a:t>
            </a: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Revenue ($/1000)</a:t>
            </a:r>
            <a:r>
              <a:rPr b="0" i="0" lang="en-US" sz="1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 × 0.30    </a:t>
            </a: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Cost Savings ($/500)</a:t>
            </a:r>
            <a:r>
              <a:rPr b="0" i="0" lang="en-US" sz="1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 × 0.20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4297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r>
              <a:rPr b="1" i="0" lang="en-US" sz="1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 Grade Scale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57200" y="4572000"/>
            <a:ext cx="8686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57200" y="457200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≥ 0.90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463040" y="4572000"/>
            <a:ext cx="86868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463040" y="457200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≥ 0.80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468880" y="4572000"/>
            <a:ext cx="86868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468880" y="457200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 ≥ 0.70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474720" y="4572000"/>
            <a:ext cx="86868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474720" y="457200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 ≥ 0.60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480560" y="4572000"/>
            <a:ext cx="86868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480560" y="4572000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 &lt; 0.60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669280" y="4297680"/>
            <a:ext cx="3108960" cy="7772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5852160" y="43434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ROI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= Total Value / Total Cost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Example: $85 value / $0.037 cost = 2,272x RoP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548640" y="182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AGENT ROI</a:t>
            </a:r>
            <a:r>
              <a:rPr b="1" i="0" lang="en-US" sz="2600" u="none" cap="none" strike="noStrike">
                <a:solidFill>
                  <a:srgbClr val="1B3A6B"/>
                </a:solidFill>
                <a:latin typeface="Georgia"/>
                <a:ea typeface="Georgia"/>
                <a:cs typeface="Georgia"/>
                <a:sym typeface="Georgia"/>
              </a:rPr>
              <a:t> Master Equations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How Human, Agent, and Synergy potentials combine into Total Unit of Potential (TUoP)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TOTAL ROI</a:t>
            </a: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b="1" lang="en-US" sz="2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AGENT PERFORMANCE OVER TIME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65760" y="1874520"/>
            <a:ext cx="4023360" cy="28346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365760" y="1874520"/>
            <a:ext cx="40233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HITL</a:t>
            </a:r>
            <a:r>
              <a:rPr b="1" i="0" lang="en-US" sz="1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 = T × C × J × K × A × (1 − F)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48640" y="228600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Human </a:t>
            </a:r>
            <a:r>
              <a:rPr lang="en-US" sz="1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In the Loop at a higher function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8"/>
          <p:cNvGraphicFramePr/>
          <p:nvPr/>
        </p:nvGraphicFramePr>
        <p:xfrm>
          <a:off x="548640" y="2560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{23AC0870-6523-47C0-A671-ABA935B92932}</a:tableStyleId>
              </a:tblPr>
              <a:tblGrid>
                <a:gridCol w="457200"/>
                <a:gridCol w="2286000"/>
                <a:gridCol w="9144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 Complexity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Cognitive Load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Judgment Quality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Knowledge Access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Autonomy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3A6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B3A6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Friction Factor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8"/>
          <p:cNvSpPr/>
          <p:nvPr/>
        </p:nvSpPr>
        <p:spPr>
          <a:xfrm>
            <a:off x="4754880" y="1874520"/>
            <a:ext cx="4023360" cy="150876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754880" y="1874520"/>
            <a:ext cx="40233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937760" y="1965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AGENT ROI</a:t>
            </a:r>
            <a:r>
              <a:rPr b="1" i="0" lang="en-US" sz="1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 = P × R × 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937760" y="228600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Agent </a:t>
            </a:r>
            <a:r>
              <a:rPr lang="en-US" sz="1000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ROI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029200" y="25146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= Processing Power (0.90)</a:t>
            </a:r>
            <a:b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= Reliability (0.95)</a:t>
            </a:r>
            <a:b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0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= Availability (0.88)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754880" y="3520440"/>
            <a:ext cx="4023360" cy="118872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754880" y="3520440"/>
            <a:ext cx="402336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937760" y="3611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 = (L × E × D × M) − 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937760" y="393192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Synergy Factor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937760" y="4160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L=Learning(0.72)  E=Engagement(0.68)  D=Data(0.75)  M=Maturity(0.60)  B=Bias(0.15)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Live Output:  </a:t>
            </a:r>
            <a:r>
              <a:rPr b="1" lang="en-US" sz="11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TOTAL ROI</a:t>
            </a: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= 0.9356  |  </a:t>
            </a:r>
            <a:r>
              <a:rPr b="1" lang="en-US" sz="11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HITL</a:t>
            </a: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= 0.1740  |  </a:t>
            </a:r>
            <a:r>
              <a:rPr b="1" lang="en-US" sz="11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AGENT </a:t>
            </a: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= 0.7524  |  Synergy = 0.0703  |  Coordination Tax = F = 0.25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743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1097280" y="2743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AGENT ROI</a:t>
            </a: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Work</a:t>
            </a: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ing</a:t>
            </a: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Example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097280" y="685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Service Drive Equity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Layer 1: Agent Scores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9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{23AC0870-6523-47C0-A671-ABA935B92932}</a:tableStyleId>
              </a:tblPr>
              <a:tblGrid>
                <a:gridCol w="1463050"/>
                <a:gridCol w="548650"/>
                <a:gridCol w="548650"/>
                <a:gridCol w="548650"/>
                <a:gridCol w="548650"/>
                <a:gridCol w="5486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 Intake (L1–L4)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Propensity (L5–L6)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Gen (L7–L8)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Conversation (L9)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Telemetry (L12)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0D8E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D0D8E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4D8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4D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4A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D50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9"/>
          <p:cNvSpPr/>
          <p:nvPr/>
        </p:nvSpPr>
        <p:spPr>
          <a:xfrm>
            <a:off x="457200" y="3017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Agent Score Avg = 0.874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846320" y="10058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Layer 2: Workflow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937760" y="1261872"/>
            <a:ext cx="3657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8E4"/>
                </a:solidFill>
                <a:latin typeface="Calibri"/>
                <a:ea typeface="Calibri"/>
                <a:cs typeface="Calibri"/>
                <a:sym typeface="Calibri"/>
              </a:rPr>
              <a:t>Completion: 1.0 × 0.40 = 0.40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8E4"/>
                </a:solidFill>
                <a:latin typeface="Calibri"/>
                <a:ea typeface="Calibri"/>
                <a:cs typeface="Calibri"/>
                <a:sym typeface="Calibri"/>
              </a:rPr>
              <a:t>Speed: 0.85 × 0.30 = 0.255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8E4"/>
                </a:solidFill>
                <a:latin typeface="Calibri"/>
                <a:ea typeface="Calibri"/>
                <a:cs typeface="Calibri"/>
                <a:sym typeface="Calibri"/>
              </a:rPr>
              <a:t>Escalation: 1.0 × 0.15 = 0.15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8E4"/>
                </a:solidFill>
                <a:latin typeface="Calibri"/>
                <a:ea typeface="Calibri"/>
                <a:cs typeface="Calibri"/>
                <a:sym typeface="Calibri"/>
              </a:rPr>
              <a:t>Intervention: 0.8 × 0.10 = 0.08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8E4"/>
                </a:solidFill>
                <a:latin typeface="Calibri"/>
                <a:ea typeface="Calibri"/>
                <a:cs typeface="Calibri"/>
                <a:sym typeface="Calibri"/>
              </a:rPr>
              <a:t>Stability: 1.0 × 0.05 = 0.05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Workflow Score = 0.935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846320" y="278892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Layer 3: Outcome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937760" y="3044952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8E4"/>
                </a:solidFill>
                <a:latin typeface="Calibri"/>
                <a:ea typeface="Calibri"/>
                <a:cs typeface="Calibri"/>
                <a:sym typeface="Calibri"/>
              </a:rPr>
              <a:t>Time Saved: 0.90 × 0.30 = 0.27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8E4"/>
                </a:solidFill>
                <a:latin typeface="Calibri"/>
                <a:ea typeface="Calibri"/>
                <a:cs typeface="Calibri"/>
                <a:sym typeface="Calibri"/>
              </a:rPr>
              <a:t>Quality: 0.85 × 0.20 = 0.17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8E4"/>
                </a:solidFill>
                <a:latin typeface="Calibri"/>
                <a:ea typeface="Calibri"/>
                <a:cs typeface="Calibri"/>
                <a:sym typeface="Calibri"/>
              </a:rPr>
              <a:t>Revenue: 0.88 × 0.30 = 0.264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D8E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D8E4"/>
                </a:solidFill>
                <a:latin typeface="Calibri"/>
                <a:ea typeface="Calibri"/>
                <a:cs typeface="Calibri"/>
                <a:sym typeface="Calibri"/>
              </a:rPr>
              <a:t>Savings: 0.92 × 0.20 = 0.184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Outcome Score = 0.888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solidFill>
            <a:srgbClr val="162D50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= (0.874 × 0.30) + (0.935 × 0.30) + (0.888 × 0.40) = </a:t>
            </a: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0.898  →  Grade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FuzeBox AEOS™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0"/>
          <p:cNvCxnSpPr/>
          <p:nvPr/>
        </p:nvCxnSpPr>
        <p:spPr>
          <a:xfrm>
            <a:off x="3200400" y="219456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0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Georgia"/>
              <a:buNone/>
            </a:pPr>
            <a:r>
              <a:rPr b="0" i="0" lang="en-US" sz="1800" u="none" cap="none" strike="noStrike">
                <a:solidFill>
                  <a:srgbClr val="00B4D8"/>
                </a:solidFill>
                <a:latin typeface="Georgia"/>
                <a:ea typeface="Georgia"/>
                <a:cs typeface="Georgia"/>
                <a:sym typeface="Georgia"/>
              </a:rPr>
              <a:t>“Own the Orchestration. Rent the Commodities.”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CAITO  ·  GSTI  ·  A</a:t>
            </a:r>
            <a:r>
              <a:rPr lang="en-US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I-ROI </a:t>
            </a:r>
            <a:r>
              <a:rPr b="0" i="0" lang="en-US" sz="14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·  DODAG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Protected under FuzeBox.AI patent portfolio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D9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D9F"/>
                </a:solidFill>
                <a:latin typeface="Calibri"/>
                <a:ea typeface="Calibri"/>
                <a:cs typeface="Calibri"/>
                <a:sym typeface="Calibri"/>
              </a:rPr>
              <a:t>USPTO Provisional #63/898,712 and nine derivative patent families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Confidential — FuzeBox.AI, Inc.  |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2026-03-24T13:39:19Z</dcterms:created>
  <dc:creator>FuzeBox.AI</dc:creator>
</cp:coreProperties>
</file>